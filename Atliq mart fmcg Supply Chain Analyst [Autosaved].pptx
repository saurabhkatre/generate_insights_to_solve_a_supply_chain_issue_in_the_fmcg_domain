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51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426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907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624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402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84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513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321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329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876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99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21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35A8B9ED-4476-44C5-9209-0146C28B5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80434F-0A9D-1FBD-F329-2CA8FA5031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96552" y="2006403"/>
            <a:ext cx="4341484" cy="891005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700" dirty="0"/>
              <a:t>This dashboard monitors supply chain performance with KPIs and detailed analysis.</a:t>
            </a:r>
            <a:endParaRPr lang="en-IN" sz="1700" dirty="0"/>
          </a:p>
        </p:txBody>
      </p:sp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8A8B5E2-109B-1BD9-6F3F-2C25DA53A3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3198" y="1965129"/>
            <a:ext cx="3219868" cy="1561635"/>
          </a:xfrm>
          <a:prstGeom prst="rect">
            <a:avLst/>
          </a:prstGeom>
          <a:effectLst>
            <a:reflection blurRad="6350" stA="50000" endA="300" endPos="5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B88908E-DFEF-4369-BB9B-27EEE1B38D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0"/>
          <a:stretch>
            <a:fillRect/>
          </a:stretch>
        </p:blipFill>
        <p:spPr>
          <a:xfrm>
            <a:off x="253965" y="1957252"/>
            <a:ext cx="3235749" cy="1516754"/>
          </a:xfrm>
          <a:prstGeom prst="rect">
            <a:avLst/>
          </a:prstGeom>
          <a:effectLst>
            <a:reflection blurRad="6350" stA="50000" endA="300" endPos="5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344077A-3AE2-440A-33D3-A7B8DAF063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4"/>
          <a:stretch>
            <a:fillRect/>
          </a:stretch>
        </p:blipFill>
        <p:spPr>
          <a:xfrm>
            <a:off x="301635" y="4382083"/>
            <a:ext cx="3219868" cy="1509308"/>
          </a:xfrm>
          <a:prstGeom prst="rect">
            <a:avLst/>
          </a:prstGeom>
          <a:effectLst>
            <a:reflection blurRad="6350" stA="50000" endA="300" endPos="5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21" name="Picture 2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66078A8-802C-41D4-2FE2-CF9E04806A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5257" y="4448160"/>
            <a:ext cx="3235749" cy="1488444"/>
          </a:xfrm>
          <a:prstGeom prst="rect">
            <a:avLst/>
          </a:prstGeom>
          <a:effectLst>
            <a:reflection blurRad="6350" stA="50000" endA="300" endPos="5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</p:pic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25D32A2-9FC1-4397-9A7C-9D84021CB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21695" y="4378228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D2BFC2C-66DA-2670-19CF-DA173510BB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6760" y="3526764"/>
            <a:ext cx="2473378" cy="15439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5FC7C65-5CAE-3BE0-67B4-B1A55FAB012A}"/>
              </a:ext>
            </a:extLst>
          </p:cNvPr>
          <p:cNvSpPr txBox="1"/>
          <p:nvPr/>
        </p:nvSpPr>
        <p:spPr>
          <a:xfrm>
            <a:off x="1583757" y="710814"/>
            <a:ext cx="103542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Supply Chain Service Level Data Analysis– </a:t>
            </a:r>
            <a:r>
              <a:rPr lang="en-US" sz="3200" b="1" dirty="0" err="1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AtliQ</a:t>
            </a: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Mart</a:t>
            </a:r>
            <a:endParaRPr lang="en-IN" sz="3200" b="1" dirty="0">
              <a:solidFill>
                <a:schemeClr val="accent2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8" name="Picture 7" descr="A logo for a company&#10;&#10;AI-generated content may be incorrect.">
            <a:extLst>
              <a:ext uri="{FF2B5EF4-FFF2-40B4-BE49-F238E27FC236}">
                <a16:creationId xmlns:a16="http://schemas.microsoft.com/office/drawing/2014/main" id="{077DB519-3804-DFE7-DB37-D72E81FABE5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965" y="626870"/>
            <a:ext cx="1329792" cy="760331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55964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logo for a company&#10;&#10;AI-generated content may be incorrect.">
            <a:extLst>
              <a:ext uri="{FF2B5EF4-FFF2-40B4-BE49-F238E27FC236}">
                <a16:creationId xmlns:a16="http://schemas.microsoft.com/office/drawing/2014/main" id="{8272135E-73FA-1349-F6EE-C96201A10F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5" r="2" b="2"/>
          <a:stretch>
            <a:fillRect/>
          </a:stretch>
        </p:blipFill>
        <p:spPr>
          <a:xfrm>
            <a:off x="984555" y="1903750"/>
            <a:ext cx="2822947" cy="283883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63704-56A0-0EEE-C5CD-D6976C650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820" y="968377"/>
            <a:ext cx="7201797" cy="500643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300" b="1"/>
              <a:t>Company:</a:t>
            </a:r>
            <a:r>
              <a:rPr lang="en-US" sz="1300"/>
              <a:t> </a:t>
            </a:r>
            <a:r>
              <a:rPr lang="en-US" sz="1300" err="1"/>
              <a:t>AtliQ</a:t>
            </a:r>
            <a:r>
              <a:rPr lang="en-US" sz="1300"/>
              <a:t> Mart – FMCG manufacturer based in Gujarat, India</a:t>
            </a:r>
          </a:p>
          <a:p>
            <a:pPr>
              <a:lnSpc>
                <a:spcPct val="100000"/>
              </a:lnSpc>
            </a:pPr>
            <a:endParaRPr lang="en-US" sz="1300" b="1"/>
          </a:p>
          <a:p>
            <a:pPr>
              <a:lnSpc>
                <a:spcPct val="100000"/>
              </a:lnSpc>
            </a:pPr>
            <a:r>
              <a:rPr lang="en-US" sz="1300" b="1"/>
              <a:t>Current Operations:</a:t>
            </a:r>
            <a:r>
              <a:rPr lang="en-US" sz="1300"/>
              <a:t> Surat, Ahmedabad, Vadodara</a:t>
            </a:r>
          </a:p>
          <a:p>
            <a:pPr>
              <a:lnSpc>
                <a:spcPct val="100000"/>
              </a:lnSpc>
            </a:pPr>
            <a:endParaRPr lang="en-US" sz="1300" b="1"/>
          </a:p>
          <a:p>
            <a:pPr>
              <a:lnSpc>
                <a:spcPct val="100000"/>
              </a:lnSpc>
            </a:pPr>
            <a:r>
              <a:rPr lang="en-US" sz="1300" b="1"/>
              <a:t>Future Goal:</a:t>
            </a:r>
            <a:r>
              <a:rPr lang="en-US" sz="1300"/>
              <a:t> Expand to Tier-1 cities within 2 years</a:t>
            </a:r>
          </a:p>
          <a:p>
            <a:pPr>
              <a:lnSpc>
                <a:spcPct val="100000"/>
              </a:lnSpc>
            </a:pPr>
            <a:endParaRPr lang="en-US" sz="1300" b="1"/>
          </a:p>
          <a:p>
            <a:pPr>
              <a:lnSpc>
                <a:spcPct val="100000"/>
              </a:lnSpc>
            </a:pPr>
            <a:r>
              <a:rPr lang="en-US" sz="1300" b="1"/>
              <a:t>Problem Statement:</a:t>
            </a:r>
            <a:endParaRPr lang="en-US" sz="1300"/>
          </a:p>
          <a:p>
            <a:pPr marL="742950" lvl="1" indent="-285750">
              <a:lnSpc>
                <a:spcPct val="100000"/>
              </a:lnSpc>
            </a:pPr>
            <a:r>
              <a:rPr lang="en-US" sz="1300"/>
              <a:t>Some key customers did not renew contracts due to </a:t>
            </a:r>
            <a:r>
              <a:rPr lang="en-US" sz="1300" b="1"/>
              <a:t>service issues</a:t>
            </a:r>
            <a:endParaRPr lang="en-US" sz="1300"/>
          </a:p>
          <a:p>
            <a:pPr marL="742950" lvl="1" indent="-285750">
              <a:lnSpc>
                <a:spcPct val="100000"/>
              </a:lnSpc>
            </a:pPr>
            <a:r>
              <a:rPr lang="en-US" sz="1300"/>
              <a:t>Essential products were </a:t>
            </a:r>
            <a:r>
              <a:rPr lang="en-US" sz="1300" b="1"/>
              <a:t>delivered late or incomplete</a:t>
            </a:r>
            <a:endParaRPr lang="en-US" sz="1300"/>
          </a:p>
          <a:p>
            <a:pPr marL="742950" lvl="1" indent="-285750">
              <a:lnSpc>
                <a:spcPct val="100000"/>
              </a:lnSpc>
            </a:pPr>
            <a:r>
              <a:rPr lang="en-US" sz="1300"/>
              <a:t>Risk of losing customers &amp; reputation before expansion</a:t>
            </a:r>
          </a:p>
          <a:p>
            <a:pPr>
              <a:lnSpc>
                <a:spcPct val="100000"/>
              </a:lnSpc>
              <a:buNone/>
            </a:pPr>
            <a:endParaRPr lang="en-US" sz="1300" b="1"/>
          </a:p>
          <a:p>
            <a:pPr>
              <a:lnSpc>
                <a:spcPct val="100000"/>
              </a:lnSpc>
              <a:buNone/>
            </a:pPr>
            <a:r>
              <a:rPr lang="en-US" sz="1300" b="1"/>
              <a:t>Objective:</a:t>
            </a:r>
            <a:endParaRPr lang="en-US" sz="1300"/>
          </a:p>
          <a:p>
            <a:pPr>
              <a:lnSpc>
                <a:spcPct val="100000"/>
              </a:lnSpc>
            </a:pPr>
            <a:r>
              <a:rPr lang="en-US" sz="1300"/>
              <a:t>Track </a:t>
            </a:r>
            <a:r>
              <a:rPr lang="en-US" sz="1300" b="1"/>
              <a:t>On-Time (OT %)</a:t>
            </a:r>
            <a:r>
              <a:rPr lang="en-US" sz="1300"/>
              <a:t>, </a:t>
            </a:r>
            <a:r>
              <a:rPr lang="en-US" sz="1300" b="1"/>
              <a:t>In-Full (IF %)</a:t>
            </a:r>
            <a:r>
              <a:rPr lang="en-US" sz="1300"/>
              <a:t>, and </a:t>
            </a:r>
            <a:r>
              <a:rPr lang="en-US" sz="1300" b="1"/>
              <a:t>On-Time In-Full (OTIF %)</a:t>
            </a:r>
            <a:r>
              <a:rPr lang="en-US" sz="1300"/>
              <a:t> delivery daily</a:t>
            </a:r>
          </a:p>
          <a:p>
            <a:pPr>
              <a:lnSpc>
                <a:spcPct val="100000"/>
              </a:lnSpc>
            </a:pPr>
            <a:r>
              <a:rPr lang="en-US" sz="1300"/>
              <a:t>Compare service levels </a:t>
            </a:r>
            <a:r>
              <a:rPr lang="en-US" sz="1300" b="1"/>
              <a:t>against customer targets</a:t>
            </a:r>
            <a:endParaRPr lang="en-US" sz="1300"/>
          </a:p>
          <a:p>
            <a:pPr>
              <a:lnSpc>
                <a:spcPct val="100000"/>
              </a:lnSpc>
            </a:pPr>
            <a:r>
              <a:rPr lang="en-US" sz="1300"/>
              <a:t>Provide insights to </a:t>
            </a:r>
            <a:r>
              <a:rPr lang="en-US" sz="1300" b="1"/>
              <a:t>improve customer service &amp; retention</a:t>
            </a:r>
            <a:endParaRPr lang="en-US" sz="1300"/>
          </a:p>
          <a:p>
            <a:pPr>
              <a:lnSpc>
                <a:spcPct val="100000"/>
              </a:lnSpc>
            </a:pPr>
            <a:endParaRPr lang="en-IN" sz="130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1686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02E6934-7A99-0D09-E3CE-B00D1B64D2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7836" y="1484025"/>
            <a:ext cx="6385810" cy="34627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80B251-B0A6-2DD9-BD10-D0109E41283D}"/>
              </a:ext>
            </a:extLst>
          </p:cNvPr>
          <p:cNvSpPr txBox="1"/>
          <p:nvPr/>
        </p:nvSpPr>
        <p:spPr>
          <a:xfrm>
            <a:off x="526530" y="1039623"/>
            <a:ext cx="2394678" cy="646331"/>
          </a:xfrm>
          <a:prstGeom prst="rect">
            <a:avLst/>
          </a:prstGeom>
          <a:noFill/>
          <a:ln>
            <a:gradFill>
              <a:gsLst>
                <a:gs pos="500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dirty="0"/>
              <a:t>Dairy and Beverages dominate order count.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A2EC8D-A743-EE26-BC67-B68940021853}"/>
              </a:ext>
            </a:extLst>
          </p:cNvPr>
          <p:cNvSpPr txBox="1"/>
          <p:nvPr/>
        </p:nvSpPr>
        <p:spPr>
          <a:xfrm>
            <a:off x="88066" y="2337747"/>
            <a:ext cx="2833142" cy="1200329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dirty="0"/>
              <a:t>Orders are fairly balanced across three cities, Ahmedabad slightly higher.</a:t>
            </a:r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4ADF0F10-CA06-D747-7715-8D09B4A0697F}"/>
              </a:ext>
            </a:extLst>
          </p:cNvPr>
          <p:cNvCxnSpPr>
            <a:cxnSpLocks/>
          </p:cNvCxnSpPr>
          <p:nvPr/>
        </p:nvCxnSpPr>
        <p:spPr>
          <a:xfrm>
            <a:off x="2928081" y="1378175"/>
            <a:ext cx="376628" cy="1710195"/>
          </a:xfrm>
          <a:prstGeom prst="bentConnector3">
            <a:avLst>
              <a:gd name="adj1" fmla="val 4204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C307DA5E-3A97-E59E-7296-56ABB96017EE}"/>
              </a:ext>
            </a:extLst>
          </p:cNvPr>
          <p:cNvSpPr/>
          <p:nvPr/>
        </p:nvSpPr>
        <p:spPr>
          <a:xfrm>
            <a:off x="3297836" y="2563318"/>
            <a:ext cx="1573967" cy="1019332"/>
          </a:xfrm>
          <a:prstGeom prst="rect">
            <a:avLst/>
          </a:prstGeom>
          <a:solidFill>
            <a:srgbClr val="FF0000">
              <a:alpha val="0"/>
            </a:srgbClr>
          </a:solidFill>
          <a:ln w="12700" cap="flat" cmpd="sng" algn="ctr">
            <a:gradFill>
              <a:gsLst>
                <a:gs pos="0">
                  <a:schemeClr val="accent1">
                    <a:lumMod val="8000"/>
                    <a:lumOff val="92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prstDash val="lgDash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C5CD625-B5AA-49CF-574E-A6B412157DAD}"/>
              </a:ext>
            </a:extLst>
          </p:cNvPr>
          <p:cNvCxnSpPr>
            <a:cxnSpLocks/>
          </p:cNvCxnSpPr>
          <p:nvPr/>
        </p:nvCxnSpPr>
        <p:spPr>
          <a:xfrm>
            <a:off x="2921208" y="3518897"/>
            <a:ext cx="1950595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62B506B-475E-3979-B409-5BE81A7B543E}"/>
              </a:ext>
            </a:extLst>
          </p:cNvPr>
          <p:cNvSpPr txBox="1"/>
          <p:nvPr/>
        </p:nvSpPr>
        <p:spPr>
          <a:xfrm flipH="1">
            <a:off x="9690519" y="1484025"/>
            <a:ext cx="2413415" cy="1477328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dirty="0"/>
              <a:t>VOFR is strong across cities, but LIFR lags → supply issues are about completeness, not volume.</a:t>
            </a:r>
            <a:endParaRPr lang="en-IN" dirty="0"/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263B6467-FDD3-1887-E7E6-30A9D89D8EE7}"/>
              </a:ext>
            </a:extLst>
          </p:cNvPr>
          <p:cNvCxnSpPr>
            <a:endCxn id="3" idx="3"/>
          </p:cNvCxnSpPr>
          <p:nvPr/>
        </p:nvCxnSpPr>
        <p:spPr>
          <a:xfrm rot="10800000" flipV="1">
            <a:off x="9683646" y="2961352"/>
            <a:ext cx="734518" cy="25403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CC00489-6A44-3E38-B6C4-57244743AFDF}"/>
              </a:ext>
            </a:extLst>
          </p:cNvPr>
          <p:cNvSpPr txBox="1"/>
          <p:nvPr/>
        </p:nvSpPr>
        <p:spPr>
          <a:xfrm>
            <a:off x="314793" y="4053717"/>
            <a:ext cx="2606415" cy="646331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dirty="0"/>
              <a:t>Dairy products dominate sales volume</a:t>
            </a:r>
            <a:endParaRPr lang="en-IN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04CDF14-7891-CC9D-CB8A-3B1FF759E099}"/>
              </a:ext>
            </a:extLst>
          </p:cNvPr>
          <p:cNvCxnSpPr>
            <a:stCxn id="24" idx="3"/>
          </p:cNvCxnSpPr>
          <p:nvPr/>
        </p:nvCxnSpPr>
        <p:spPr>
          <a:xfrm flipV="1">
            <a:off x="2921208" y="4376882"/>
            <a:ext cx="37662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6074F95-C34C-DCEB-6CA7-43558CF47C72}"/>
              </a:ext>
            </a:extLst>
          </p:cNvPr>
          <p:cNvSpPr txBox="1"/>
          <p:nvPr/>
        </p:nvSpPr>
        <p:spPr>
          <a:xfrm>
            <a:off x="10060274" y="4053717"/>
            <a:ext cx="2043660" cy="1477328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dirty="0"/>
              <a:t>Order volume is stable month-to-month, but distribution varies slightly by city</a:t>
            </a:r>
            <a:endParaRPr lang="en-IN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8B7E872-F709-5D3B-5307-79B4DB9CDCFB}"/>
              </a:ext>
            </a:extLst>
          </p:cNvPr>
          <p:cNvCxnSpPr/>
          <p:nvPr/>
        </p:nvCxnSpPr>
        <p:spPr>
          <a:xfrm flipH="1">
            <a:off x="9458793" y="4497049"/>
            <a:ext cx="5996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138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78021A6-DE2E-E6A6-7360-D81F3628B1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3161" y="1514006"/>
            <a:ext cx="7135318" cy="354427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92E37C4-9780-F382-F260-CA97A93C528B}"/>
              </a:ext>
            </a:extLst>
          </p:cNvPr>
          <p:cNvSpPr txBox="1"/>
          <p:nvPr/>
        </p:nvSpPr>
        <p:spPr>
          <a:xfrm>
            <a:off x="409731" y="1259174"/>
            <a:ext cx="2013678" cy="1169551"/>
          </a:xfrm>
          <a:prstGeom prst="rect">
            <a:avLst/>
          </a:prstGeom>
          <a:noFill/>
          <a:ln>
            <a:gradFill>
              <a:gsLst>
                <a:gs pos="1500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The lowest service levels are concentrated in </a:t>
            </a:r>
            <a:r>
              <a:rPr lang="en-US" sz="1400" b="1" dirty="0"/>
              <a:t>Vijay Stores &amp; </a:t>
            </a:r>
            <a:r>
              <a:rPr lang="en-US" sz="1400" b="1" dirty="0" err="1"/>
              <a:t>Sonofaz</a:t>
            </a:r>
            <a:r>
              <a:rPr lang="en-US" sz="1400" b="1" dirty="0"/>
              <a:t> Mart</a:t>
            </a:r>
            <a:r>
              <a:rPr lang="en-US" sz="1400" dirty="0"/>
              <a:t>, which require </a:t>
            </a:r>
            <a:r>
              <a:rPr lang="en-US" sz="1400" b="1" dirty="0"/>
              <a:t>priority action</a:t>
            </a:r>
            <a:r>
              <a:rPr lang="en-US" sz="1400" dirty="0"/>
              <a:t>.</a:t>
            </a:r>
            <a:endParaRPr lang="en-IN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DD6943-E509-CCCB-6348-A91E85104680}"/>
              </a:ext>
            </a:extLst>
          </p:cNvPr>
          <p:cNvSpPr txBox="1"/>
          <p:nvPr/>
        </p:nvSpPr>
        <p:spPr>
          <a:xfrm>
            <a:off x="10318231" y="2131899"/>
            <a:ext cx="181381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Ahmedabad is driving performance</a:t>
            </a:r>
            <a:r>
              <a:rPr lang="en-US" sz="1400" dirty="0"/>
              <a:t>, but Surat is dragging overall metrics</a:t>
            </a:r>
            <a:endParaRPr lang="en-IN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20F290-B4F8-B750-210B-1CC55A4C2471}"/>
              </a:ext>
            </a:extLst>
          </p:cNvPr>
          <p:cNvSpPr txBox="1"/>
          <p:nvPr/>
        </p:nvSpPr>
        <p:spPr>
          <a:xfrm>
            <a:off x="10163331" y="3852472"/>
            <a:ext cx="196871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Ahmedabad is </a:t>
            </a:r>
            <a:r>
              <a:rPr lang="en-US" sz="1400" b="1" dirty="0"/>
              <a:t>stable and leading</a:t>
            </a:r>
            <a:r>
              <a:rPr lang="en-US" sz="1400" dirty="0"/>
              <a:t>, but other two cities are reducing overall LIFR.</a:t>
            </a:r>
            <a:endParaRPr lang="en-IN" sz="14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97682F3-DC43-4BE0-12D5-AFFB4DEEB3C7}"/>
              </a:ext>
            </a:extLst>
          </p:cNvPr>
          <p:cNvCxnSpPr/>
          <p:nvPr/>
        </p:nvCxnSpPr>
        <p:spPr>
          <a:xfrm>
            <a:off x="2423409" y="2131899"/>
            <a:ext cx="3797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0E58101-CEAA-7E74-BF2A-782A343AA53D}"/>
              </a:ext>
            </a:extLst>
          </p:cNvPr>
          <p:cNvCxnSpPr>
            <a:stCxn id="2" idx="1"/>
          </p:cNvCxnSpPr>
          <p:nvPr/>
        </p:nvCxnSpPr>
        <p:spPr>
          <a:xfrm flipH="1">
            <a:off x="9938479" y="2716675"/>
            <a:ext cx="379752" cy="4312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20F1F8F-0384-F2F4-6005-2DAD5C726996}"/>
              </a:ext>
            </a:extLst>
          </p:cNvPr>
          <p:cNvCxnSpPr>
            <a:stCxn id="5" idx="1"/>
          </p:cNvCxnSpPr>
          <p:nvPr/>
        </p:nvCxnSpPr>
        <p:spPr>
          <a:xfrm flipH="1">
            <a:off x="9938479" y="4329526"/>
            <a:ext cx="224852" cy="326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96A5B0B-A51D-ED64-2098-1E344268FC74}"/>
              </a:ext>
            </a:extLst>
          </p:cNvPr>
          <p:cNvSpPr txBox="1"/>
          <p:nvPr/>
        </p:nvSpPr>
        <p:spPr>
          <a:xfrm>
            <a:off x="332281" y="3367787"/>
            <a:ext cx="216857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All KPIs remain flat with no month-on-month recovery. OT and IF are significantly below targets, pulling OTIF down. While costs are stable, efficiency and reliability are the key challenges</a:t>
            </a:r>
            <a:endParaRPr lang="en-IN" sz="14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28FD371-21EE-6545-E278-C4DC35491B17}"/>
              </a:ext>
            </a:extLst>
          </p:cNvPr>
          <p:cNvCxnSpPr/>
          <p:nvPr/>
        </p:nvCxnSpPr>
        <p:spPr>
          <a:xfrm>
            <a:off x="2500859" y="4467069"/>
            <a:ext cx="3023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512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05A2611-8BD9-5534-67AF-E75012C6C0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830"/>
          <a:stretch>
            <a:fillRect/>
          </a:stretch>
        </p:blipFill>
        <p:spPr>
          <a:xfrm>
            <a:off x="4562615" y="352295"/>
            <a:ext cx="3066768" cy="1534719"/>
          </a:xfrm>
          <a:prstGeom prst="rect">
            <a:avLst/>
          </a:prstGeom>
        </p:spPr>
      </p:pic>
      <p:pic>
        <p:nvPicPr>
          <p:cNvPr id="9" name="Picture 8" descr="A graph with numbers and a line&#10;&#10;AI-generated content may be incorrect.">
            <a:extLst>
              <a:ext uri="{FF2B5EF4-FFF2-40B4-BE49-F238E27FC236}">
                <a16:creationId xmlns:a16="http://schemas.microsoft.com/office/drawing/2014/main" id="{AE7E24CE-6AAA-EA6A-A8DB-B041D3945E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303" y="4039665"/>
            <a:ext cx="3534269" cy="1553340"/>
          </a:xfrm>
          <a:prstGeom prst="rect">
            <a:avLst/>
          </a:prstGeom>
        </p:spPr>
      </p:pic>
      <p:pic>
        <p:nvPicPr>
          <p:cNvPr id="11" name="Picture 10" descr="A screenshot of a graph&#10;&#10;AI-generated content may be incorrect.">
            <a:extLst>
              <a:ext uri="{FF2B5EF4-FFF2-40B4-BE49-F238E27FC236}">
                <a16:creationId xmlns:a16="http://schemas.microsoft.com/office/drawing/2014/main" id="{8014EED7-CCFE-8397-7500-EF1018B47D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8184" y="1506878"/>
            <a:ext cx="3487245" cy="1130219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97343F4-BA4D-4997-A135-CC3BAAD4A3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2437" y="4851152"/>
            <a:ext cx="4216894" cy="1139622"/>
          </a:xfrm>
          <a:prstGeom prst="rect">
            <a:avLst/>
          </a:prstGeom>
        </p:spPr>
      </p:pic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467F894-7FCF-5A46-0EAE-8D035262FBC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06" r="2110" b="5847"/>
          <a:stretch>
            <a:fillRect/>
          </a:stretch>
        </p:blipFill>
        <p:spPr>
          <a:xfrm>
            <a:off x="6095999" y="3148284"/>
            <a:ext cx="3812499" cy="1384995"/>
          </a:xfrm>
          <a:prstGeom prst="rect">
            <a:avLst/>
          </a:prstGeom>
        </p:spPr>
      </p:pic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9FAC219-683C-02A8-ED33-9A701E33C48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389" r="3158"/>
          <a:stretch>
            <a:fillRect/>
          </a:stretch>
        </p:blipFill>
        <p:spPr>
          <a:xfrm>
            <a:off x="3263810" y="2284782"/>
            <a:ext cx="3487245" cy="135711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6BFEDCD-92CA-7921-0F0A-E9954A3C208A}"/>
              </a:ext>
            </a:extLst>
          </p:cNvPr>
          <p:cNvSpPr txBox="1"/>
          <p:nvPr/>
        </p:nvSpPr>
        <p:spPr>
          <a:xfrm>
            <a:off x="809951" y="738911"/>
            <a:ext cx="314144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OTIF % by Month</a:t>
            </a:r>
          </a:p>
          <a:p>
            <a:r>
              <a:rPr lang="en-US" sz="1200" dirty="0"/>
              <a:t>Performance is consistently low (28–29%).</a:t>
            </a:r>
          </a:p>
          <a:p>
            <a:r>
              <a:rPr lang="en-US" sz="1200" dirty="0"/>
              <a:t>No visible improvement from March to August.</a:t>
            </a:r>
          </a:p>
          <a:p>
            <a:r>
              <a:rPr lang="en-US" sz="1200" b="1" dirty="0"/>
              <a:t>Insight:</a:t>
            </a:r>
            <a:r>
              <a:rPr lang="en-US" sz="1200" dirty="0"/>
              <a:t> Major structural issue in </a:t>
            </a:r>
            <a:r>
              <a:rPr lang="en-US" sz="1200" b="1" dirty="0"/>
              <a:t>on-time and in-full deliveries</a:t>
            </a:r>
            <a:endParaRPr lang="en-US" sz="1200" dirty="0"/>
          </a:p>
          <a:p>
            <a:endParaRPr lang="en-IN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DC4E1CC-4C16-2531-DBD7-930EBFC7984D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3951400" y="1477575"/>
            <a:ext cx="5306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73DAE88-03A0-982A-08F9-A72A7D5CC750}"/>
              </a:ext>
            </a:extLst>
          </p:cNvPr>
          <p:cNvSpPr txBox="1"/>
          <p:nvPr/>
        </p:nvSpPr>
        <p:spPr>
          <a:xfrm>
            <a:off x="10373193" y="2637097"/>
            <a:ext cx="1648918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LIFR % by Month</a:t>
            </a:r>
          </a:p>
          <a:p>
            <a:r>
              <a:rPr lang="en-US" sz="1100" dirty="0"/>
              <a:t>Fluctuates between </a:t>
            </a:r>
            <a:r>
              <a:rPr lang="en-US" sz="1100" b="1" dirty="0"/>
              <a:t>65.8% – 66.3%</a:t>
            </a:r>
            <a:r>
              <a:rPr lang="en-US" sz="1100" dirty="0"/>
              <a:t>.</a:t>
            </a:r>
          </a:p>
          <a:p>
            <a:r>
              <a:rPr lang="en-US" sz="1100" dirty="0"/>
              <a:t>Stable but consistently </a:t>
            </a:r>
            <a:r>
              <a:rPr lang="en-US" sz="1100" b="1" dirty="0"/>
              <a:t>below target (76.5%)</a:t>
            </a:r>
            <a:r>
              <a:rPr lang="en-US" sz="1100" dirty="0"/>
              <a:t>.</a:t>
            </a:r>
          </a:p>
          <a:p>
            <a:r>
              <a:rPr lang="en-US" sz="1100" b="1" dirty="0"/>
              <a:t>Insight:</a:t>
            </a:r>
            <a:r>
              <a:rPr lang="en-US" sz="1100" dirty="0"/>
              <a:t> Some consistency exists, but the level is inadequate</a:t>
            </a:r>
          </a:p>
          <a:p>
            <a:endParaRPr lang="en-IN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D7B598B-8EF3-0170-9AC0-21E33FDF096E}"/>
              </a:ext>
            </a:extLst>
          </p:cNvPr>
          <p:cNvCxnSpPr>
            <a:cxnSpLocks/>
          </p:cNvCxnSpPr>
          <p:nvPr/>
        </p:nvCxnSpPr>
        <p:spPr>
          <a:xfrm flipH="1">
            <a:off x="9908498" y="3570679"/>
            <a:ext cx="4646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58EAA83-549A-14AA-8AA3-FFCD71F22649}"/>
              </a:ext>
            </a:extLst>
          </p:cNvPr>
          <p:cNvSpPr txBox="1"/>
          <p:nvPr/>
        </p:nvSpPr>
        <p:spPr>
          <a:xfrm>
            <a:off x="475746" y="2271144"/>
            <a:ext cx="2357395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OT % by Month</a:t>
            </a:r>
          </a:p>
          <a:p>
            <a:r>
              <a:rPr lang="en-US" sz="1100" dirty="0"/>
              <a:t>Flat trend at ~58–59%.</a:t>
            </a:r>
          </a:p>
          <a:p>
            <a:r>
              <a:rPr lang="en-US" sz="1100" dirty="0"/>
              <a:t>Far below target of </a:t>
            </a:r>
            <a:r>
              <a:rPr lang="en-US" sz="1100" b="1" dirty="0"/>
              <a:t>96%</a:t>
            </a:r>
            <a:r>
              <a:rPr lang="en-US" sz="1100" dirty="0"/>
              <a:t>, no recovery visible.</a:t>
            </a:r>
          </a:p>
          <a:p>
            <a:r>
              <a:rPr lang="en-US" sz="1100" b="1" dirty="0"/>
              <a:t>Insight:</a:t>
            </a:r>
            <a:r>
              <a:rPr lang="en-US" sz="1100" dirty="0"/>
              <a:t> </a:t>
            </a:r>
            <a:r>
              <a:rPr lang="en-US" sz="1100" b="1" dirty="0"/>
              <a:t>Biggest weakness</a:t>
            </a:r>
            <a:r>
              <a:rPr lang="en-US" sz="1100" dirty="0"/>
              <a:t>, showing lack of process control in timely delivery.</a:t>
            </a:r>
          </a:p>
          <a:p>
            <a:endParaRPr lang="en-IN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A2DACBD-A1A5-AE9B-9BD9-E97B1395E5CF}"/>
              </a:ext>
            </a:extLst>
          </p:cNvPr>
          <p:cNvCxnSpPr/>
          <p:nvPr/>
        </p:nvCxnSpPr>
        <p:spPr>
          <a:xfrm>
            <a:off x="2833141" y="2832084"/>
            <a:ext cx="4306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55051E30-BCB2-45BD-60A3-39B720DDA062}"/>
              </a:ext>
            </a:extLst>
          </p:cNvPr>
          <p:cNvSpPr txBox="1"/>
          <p:nvPr/>
        </p:nvSpPr>
        <p:spPr>
          <a:xfrm>
            <a:off x="9810170" y="996508"/>
            <a:ext cx="238183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COCT (Cost of Order Cycle Time) by Month</a:t>
            </a:r>
          </a:p>
          <a:p>
            <a:r>
              <a:rPr lang="en-US" sz="1100" dirty="0"/>
              <a:t>Stable at </a:t>
            </a:r>
            <a:r>
              <a:rPr lang="en-US" sz="1100" b="1" dirty="0"/>
              <a:t>2.4 across all months</a:t>
            </a:r>
            <a:r>
              <a:rPr lang="en-US" sz="1100" dirty="0"/>
              <a:t>.</a:t>
            </a:r>
          </a:p>
          <a:p>
            <a:r>
              <a:rPr lang="en-US" sz="1100" b="1" dirty="0"/>
              <a:t>Insight:</a:t>
            </a:r>
            <a:r>
              <a:rPr lang="en-US" sz="1100" dirty="0"/>
              <a:t> Cost is consistent → issue is </a:t>
            </a:r>
            <a:r>
              <a:rPr lang="en-US" sz="1100" b="1" dirty="0"/>
              <a:t>efficiency/output</a:t>
            </a:r>
            <a:r>
              <a:rPr lang="en-US" sz="1100" dirty="0"/>
              <a:t>, not cost escalation</a:t>
            </a:r>
          </a:p>
          <a:p>
            <a:endParaRPr lang="en-IN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19B82C1-B911-B5C1-3702-8665EF341908}"/>
              </a:ext>
            </a:extLst>
          </p:cNvPr>
          <p:cNvCxnSpPr>
            <a:cxnSpLocks/>
            <a:stCxn id="32" idx="1"/>
          </p:cNvCxnSpPr>
          <p:nvPr/>
        </p:nvCxnSpPr>
        <p:spPr>
          <a:xfrm flipH="1">
            <a:off x="9415429" y="1689006"/>
            <a:ext cx="3947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9A06F22-C176-687E-83CB-9B12711BEE16}"/>
              </a:ext>
            </a:extLst>
          </p:cNvPr>
          <p:cNvSpPr txBox="1"/>
          <p:nvPr/>
        </p:nvSpPr>
        <p:spPr>
          <a:xfrm>
            <a:off x="584187" y="4123124"/>
            <a:ext cx="224895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IF % by Month</a:t>
            </a:r>
          </a:p>
          <a:p>
            <a:r>
              <a:rPr lang="en-US" sz="1100" dirty="0"/>
              <a:t>Moves around 52–53%, with slight dips (lowest in June: 52.0%).</a:t>
            </a:r>
          </a:p>
          <a:p>
            <a:r>
              <a:rPr lang="en-US" sz="1100" dirty="0"/>
              <a:t>Remains </a:t>
            </a:r>
            <a:r>
              <a:rPr lang="en-US" sz="1100" b="1" dirty="0"/>
              <a:t>well below goal (86%)</a:t>
            </a:r>
            <a:r>
              <a:rPr lang="en-US" sz="1100" dirty="0"/>
              <a:t>.</a:t>
            </a:r>
          </a:p>
          <a:p>
            <a:r>
              <a:rPr lang="en-US" sz="1100" b="1" dirty="0"/>
              <a:t>Insight:</a:t>
            </a:r>
            <a:r>
              <a:rPr lang="en-US" sz="1100" dirty="0"/>
              <a:t> Inventory or order fill challenges are persistent</a:t>
            </a:r>
          </a:p>
          <a:p>
            <a:endParaRPr lang="en-IN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5DD443C-C43B-45EB-3082-62881BD16395}"/>
              </a:ext>
            </a:extLst>
          </p:cNvPr>
          <p:cNvCxnSpPr>
            <a:stCxn id="36" idx="3"/>
            <a:endCxn id="9" idx="1"/>
          </p:cNvCxnSpPr>
          <p:nvPr/>
        </p:nvCxnSpPr>
        <p:spPr>
          <a:xfrm>
            <a:off x="2833141" y="4815622"/>
            <a:ext cx="362162" cy="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7040D3BE-B14A-B1C0-D88A-86FDB3D98C03}"/>
              </a:ext>
            </a:extLst>
          </p:cNvPr>
          <p:cNvSpPr txBox="1"/>
          <p:nvPr/>
        </p:nvSpPr>
        <p:spPr>
          <a:xfrm>
            <a:off x="9981839" y="4360646"/>
            <a:ext cx="2029681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VOFR % by Month </a:t>
            </a:r>
          </a:p>
          <a:p>
            <a:r>
              <a:rPr lang="en-US" sz="1100" dirty="0"/>
              <a:t>Stays </a:t>
            </a:r>
            <a:r>
              <a:rPr lang="en-US" sz="1100" b="1" dirty="0"/>
              <a:t>very high and stable (~96–97%)</a:t>
            </a:r>
            <a:r>
              <a:rPr lang="en-US" sz="1100" dirty="0"/>
              <a:t> across months.</a:t>
            </a:r>
          </a:p>
          <a:p>
            <a:r>
              <a:rPr lang="en-US" sz="1100" dirty="0"/>
              <a:t>Close to the </a:t>
            </a:r>
            <a:r>
              <a:rPr lang="en-US" sz="1100" b="1" dirty="0"/>
              <a:t>goal (97%)</a:t>
            </a:r>
            <a:r>
              <a:rPr lang="en-US" sz="1100" dirty="0"/>
              <a:t>, showing good performance.</a:t>
            </a:r>
          </a:p>
          <a:p>
            <a:r>
              <a:rPr lang="en-US" sz="1100" b="1" dirty="0"/>
              <a:t>Compared to OTIF, OT, IF:</a:t>
            </a:r>
            <a:r>
              <a:rPr lang="en-US" sz="1100" dirty="0"/>
              <a:t> VOFR is the </a:t>
            </a:r>
            <a:r>
              <a:rPr lang="en-US" sz="1100" b="1" dirty="0"/>
              <a:t>only KPI consistently on track</a:t>
            </a:r>
            <a:endParaRPr lang="en-US" sz="1100" dirty="0"/>
          </a:p>
          <a:p>
            <a:endParaRPr lang="en-IN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E16D722-D144-3839-AE54-365D318F6478}"/>
              </a:ext>
            </a:extLst>
          </p:cNvPr>
          <p:cNvCxnSpPr>
            <a:stCxn id="39" idx="1"/>
          </p:cNvCxnSpPr>
          <p:nvPr/>
        </p:nvCxnSpPr>
        <p:spPr>
          <a:xfrm flipH="1" flipV="1">
            <a:off x="9179331" y="5222420"/>
            <a:ext cx="80250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3622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818C5E0-2B46-6FFB-6FB4-9DB1306F7A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7699" y="850540"/>
            <a:ext cx="5351487" cy="36957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A3765E4-0397-7A5B-728D-93B75583E933}"/>
              </a:ext>
            </a:extLst>
          </p:cNvPr>
          <p:cNvSpPr txBox="1"/>
          <p:nvPr/>
        </p:nvSpPr>
        <p:spPr>
          <a:xfrm>
            <a:off x="824459" y="1703823"/>
            <a:ext cx="22635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All product groups suffer delays</a:t>
            </a:r>
            <a:r>
              <a:rPr lang="en-US" sz="1400" dirty="0"/>
              <a:t>, but Biscuits &amp; Curd stand out as the </a:t>
            </a:r>
            <a:r>
              <a:rPr lang="en-US" sz="1400" b="1" dirty="0"/>
              <a:t>worst affected categories</a:t>
            </a:r>
            <a:r>
              <a:rPr lang="en-US" sz="1400" dirty="0"/>
              <a:t>.</a:t>
            </a:r>
            <a:endParaRPr lang="en-IN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14B780-D54A-D809-9A11-C3FB5DB296C1}"/>
              </a:ext>
            </a:extLst>
          </p:cNvPr>
          <p:cNvSpPr txBox="1"/>
          <p:nvPr/>
        </p:nvSpPr>
        <p:spPr>
          <a:xfrm>
            <a:off x="899410" y="3134982"/>
            <a:ext cx="215858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Demand stability → problem is purely </a:t>
            </a:r>
            <a:r>
              <a:rPr lang="en-US" sz="1400" b="1" dirty="0"/>
              <a:t>supply chain execution</a:t>
            </a:r>
            <a:r>
              <a:rPr lang="en-US" sz="1400" dirty="0"/>
              <a:t>, not demand fluctuation</a:t>
            </a:r>
            <a:endParaRPr lang="en-IN" sz="14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03937E1-121D-8E64-06D0-E34632040DA0}"/>
              </a:ext>
            </a:extLst>
          </p:cNvPr>
          <p:cNvCxnSpPr/>
          <p:nvPr/>
        </p:nvCxnSpPr>
        <p:spPr>
          <a:xfrm>
            <a:off x="3160427" y="2180876"/>
            <a:ext cx="3472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9F5CC6B-F60D-7744-8677-CC26F94114C3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3057993" y="3612036"/>
            <a:ext cx="3472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C0EF245-4697-AA99-EA11-2A7F34C3D781}"/>
              </a:ext>
            </a:extLst>
          </p:cNvPr>
          <p:cNvSpPr txBox="1"/>
          <p:nvPr/>
        </p:nvSpPr>
        <p:spPr>
          <a:xfrm>
            <a:off x="9308892" y="1628754"/>
            <a:ext cx="208862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Volume fulfillment is good, but line-item fill (LIFR) is weak</a:t>
            </a:r>
            <a:r>
              <a:rPr lang="en-US" sz="1400" dirty="0"/>
              <a:t> — especially for Tea, Ghee, and Butter.</a:t>
            </a:r>
            <a:endParaRPr lang="en-IN" sz="14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51DAF5E-AAC1-F73C-6BFF-865E0535B747}"/>
              </a:ext>
            </a:extLst>
          </p:cNvPr>
          <p:cNvCxnSpPr/>
          <p:nvPr/>
        </p:nvCxnSpPr>
        <p:spPr>
          <a:xfrm flipH="1">
            <a:off x="8884169" y="2335081"/>
            <a:ext cx="5071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5D921E1-5856-EF6A-8A7C-9734FE4BF9B2}"/>
              </a:ext>
            </a:extLst>
          </p:cNvPr>
          <p:cNvSpPr txBox="1"/>
          <p:nvPr/>
        </p:nvSpPr>
        <p:spPr>
          <a:xfrm>
            <a:off x="9511259" y="3161325"/>
            <a:ext cx="168389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Products are being </a:t>
            </a:r>
            <a:r>
              <a:rPr lang="en-US" sz="1400" b="1" dirty="0"/>
              <a:t>shipped in correct volumes</a:t>
            </a:r>
            <a:r>
              <a:rPr lang="en-US" sz="1400" dirty="0"/>
              <a:t>, but delays (timeliness) and incomplete orders reduce OTIF.</a:t>
            </a:r>
            <a:endParaRPr lang="en-IN" sz="14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8097EAE-E6DF-3431-1A96-11278FF889AC}"/>
              </a:ext>
            </a:extLst>
          </p:cNvPr>
          <p:cNvCxnSpPr/>
          <p:nvPr/>
        </p:nvCxnSpPr>
        <p:spPr>
          <a:xfrm flipH="1">
            <a:off x="8859186" y="3826825"/>
            <a:ext cx="7320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1621F62-02A8-E231-61A2-1B965B51F17D}"/>
              </a:ext>
            </a:extLst>
          </p:cNvPr>
          <p:cNvSpPr txBox="1"/>
          <p:nvPr/>
        </p:nvSpPr>
        <p:spPr>
          <a:xfrm>
            <a:off x="1204211" y="4871803"/>
            <a:ext cx="97835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Product supply chain is facing </a:t>
            </a:r>
            <a:r>
              <a:rPr lang="en-US" b="1" dirty="0"/>
              <a:t>severe timeliness and completeness issues</a:t>
            </a:r>
            <a:r>
              <a:rPr lang="en-US" dirty="0"/>
              <a:t>, with OTIF only 23.8%. While order volumes (VOFR) remain strong at 96%, categories like Biscuits and Curd face the highest delays, and products such as Tea, Ghee, and Butter show weak LIFR performance.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3979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31783EF-BE91-C0AE-1053-F2ABEDC46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3114" y="809468"/>
            <a:ext cx="6445771" cy="34777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07DD76B-014A-7E11-7749-DE3414DF5CA2}"/>
              </a:ext>
            </a:extLst>
          </p:cNvPr>
          <p:cNvSpPr txBox="1"/>
          <p:nvPr/>
        </p:nvSpPr>
        <p:spPr>
          <a:xfrm>
            <a:off x="479685" y="1094283"/>
            <a:ext cx="203866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Large modern trade outlets face the longest processing times</a:t>
            </a:r>
            <a:r>
              <a:rPr lang="en-US" sz="1400" dirty="0"/>
              <a:t>, while smaller stores get quicker processing.</a:t>
            </a:r>
            <a:endParaRPr lang="en-IN" sz="14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F63B16A-B6CD-8783-AAA9-61FEA3400E1A}"/>
              </a:ext>
            </a:extLst>
          </p:cNvPr>
          <p:cNvCxnSpPr/>
          <p:nvPr/>
        </p:nvCxnSpPr>
        <p:spPr>
          <a:xfrm>
            <a:off x="2548328" y="1873770"/>
            <a:ext cx="3247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4CA0925-1F03-478E-1B0A-63AFD0F50064}"/>
              </a:ext>
            </a:extLst>
          </p:cNvPr>
          <p:cNvSpPr txBox="1"/>
          <p:nvPr/>
        </p:nvSpPr>
        <p:spPr>
          <a:xfrm>
            <a:off x="614596" y="2442043"/>
            <a:ext cx="190375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Key modern trade customers (Lotus, Acclaimed, Coolblue) face maximum delays → high service risk on strategic clients</a:t>
            </a:r>
            <a:endParaRPr lang="en-IN" sz="14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94D00BA-9E56-DAA3-3994-B635670BCA6B}"/>
              </a:ext>
            </a:extLst>
          </p:cNvPr>
          <p:cNvCxnSpPr>
            <a:cxnSpLocks/>
          </p:cNvCxnSpPr>
          <p:nvPr/>
        </p:nvCxnSpPr>
        <p:spPr>
          <a:xfrm flipV="1">
            <a:off x="2518347" y="2861768"/>
            <a:ext cx="2428406" cy="2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F112E52-F268-8533-A664-0A1943E6E964}"/>
              </a:ext>
            </a:extLst>
          </p:cNvPr>
          <p:cNvSpPr txBox="1"/>
          <p:nvPr/>
        </p:nvSpPr>
        <p:spPr>
          <a:xfrm>
            <a:off x="9593705" y="1094283"/>
            <a:ext cx="211861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Modern trade chains (Coolblue, Lotus, Acclaimed) → worst OTIF &amp; LIFR. Smaller retailers → better service.</a:t>
            </a:r>
            <a:endParaRPr lang="en-IN" sz="14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B016914-18F9-F388-25EB-68A7F3E12491}"/>
              </a:ext>
            </a:extLst>
          </p:cNvPr>
          <p:cNvCxnSpPr>
            <a:stCxn id="10" idx="1"/>
          </p:cNvCxnSpPr>
          <p:nvPr/>
        </p:nvCxnSpPr>
        <p:spPr>
          <a:xfrm flipH="1" flipV="1">
            <a:off x="9318885" y="1663908"/>
            <a:ext cx="274820" cy="15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8D6A37B-2CD7-927B-53D2-84FC298441AE}"/>
              </a:ext>
            </a:extLst>
          </p:cNvPr>
          <p:cNvSpPr txBox="1"/>
          <p:nvPr/>
        </p:nvSpPr>
        <p:spPr>
          <a:xfrm>
            <a:off x="9593705" y="2861768"/>
            <a:ext cx="232347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High-demand cities (Logic, </a:t>
            </a:r>
            <a:r>
              <a:rPr lang="en-US" sz="1400" dirty="0" err="1"/>
              <a:t>Chiptec</a:t>
            </a:r>
            <a:r>
              <a:rPr lang="en-US" sz="1400" dirty="0"/>
              <a:t>, Vivek) are most affected by undelivered quantities → biggest volume risk</a:t>
            </a:r>
            <a:endParaRPr lang="en-IN" sz="14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CF5D9D6-EE8C-7FCC-FFFD-664167837A45}"/>
              </a:ext>
            </a:extLst>
          </p:cNvPr>
          <p:cNvCxnSpPr>
            <a:stCxn id="13" idx="1"/>
          </p:cNvCxnSpPr>
          <p:nvPr/>
        </p:nvCxnSpPr>
        <p:spPr>
          <a:xfrm flipH="1" flipV="1">
            <a:off x="9318885" y="3429000"/>
            <a:ext cx="274820" cy="175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AE29005-233C-DB99-1F66-E6A4134EC67E}"/>
              </a:ext>
            </a:extLst>
          </p:cNvPr>
          <p:cNvSpPr txBox="1"/>
          <p:nvPr/>
        </p:nvSpPr>
        <p:spPr>
          <a:xfrm>
            <a:off x="1019331" y="4586990"/>
            <a:ext cx="103432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Customer service is highly inconsistent. </a:t>
            </a:r>
            <a:r>
              <a:rPr lang="en-US" b="1" dirty="0"/>
              <a:t>Modern trade clients (Lotus, Coolblue, Acclaimed) suffer from maximum delays and the lowest OTIF (as low as 19–27%)</a:t>
            </a:r>
            <a:r>
              <a:rPr lang="en-US" dirty="0"/>
              <a:t>, while smaller retailers perform relatively better. Although </a:t>
            </a:r>
            <a:r>
              <a:rPr lang="en-US" b="1" dirty="0"/>
              <a:t>VOFR remains strong at ~96%</a:t>
            </a:r>
            <a:r>
              <a:rPr lang="en-US" dirty="0"/>
              <a:t>, the main issue lies in </a:t>
            </a:r>
            <a:r>
              <a:rPr lang="en-US" b="1" dirty="0"/>
              <a:t>timeliness and completeness</a:t>
            </a:r>
            <a:r>
              <a:rPr lang="en-US" dirty="0"/>
              <a:t>, with top-volume customers (Logic, </a:t>
            </a:r>
            <a:r>
              <a:rPr lang="en-US" dirty="0" err="1"/>
              <a:t>Chiptec</a:t>
            </a:r>
            <a:r>
              <a:rPr lang="en-US" dirty="0"/>
              <a:t>, Vivek) experiencing the highest undelivered quantities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4368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8A1FBA-7C5D-7D34-421F-1FE307288743}"/>
              </a:ext>
            </a:extLst>
          </p:cNvPr>
          <p:cNvSpPr txBox="1"/>
          <p:nvPr/>
        </p:nvSpPr>
        <p:spPr>
          <a:xfrm>
            <a:off x="3043004" y="1993692"/>
            <a:ext cx="637081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>
                <a:solidFill>
                  <a:schemeClr val="accent4">
                    <a:lumMod val="75000"/>
                  </a:schemeClr>
                </a:solidFill>
              </a:rPr>
              <a:t>Thank</a:t>
            </a:r>
            <a:r>
              <a:rPr lang="en-IN" sz="6000" b="1" dirty="0"/>
              <a:t> </a:t>
            </a:r>
          </a:p>
          <a:p>
            <a:r>
              <a:rPr lang="en-IN" sz="6000" b="1" dirty="0"/>
              <a:t>              </a:t>
            </a:r>
            <a:r>
              <a:rPr lang="en-IN" sz="6000" b="1" dirty="0">
                <a:solidFill>
                  <a:schemeClr val="bg2">
                    <a:lumMod val="25000"/>
                  </a:schemeClr>
                </a:solidFill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2079294603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906</TotalTime>
  <Words>722</Words>
  <Application>Microsoft Office PowerPoint</Application>
  <PresentationFormat>Widescreen</PresentationFormat>
  <Paragraphs>61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Calisto MT</vt:lpstr>
      <vt:lpstr>Segoe UI</vt:lpstr>
      <vt:lpstr>Univers Condensed</vt:lpstr>
      <vt:lpstr>ChronicleVTI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Sagar Gampawar</dc:creator>
  <cp:lastModifiedBy>Office</cp:lastModifiedBy>
  <cp:revision>8</cp:revision>
  <dcterms:created xsi:type="dcterms:W3CDTF">2025-09-02T10:36:39Z</dcterms:created>
  <dcterms:modified xsi:type="dcterms:W3CDTF">2026-04-21T11:48:56Z</dcterms:modified>
</cp:coreProperties>
</file>